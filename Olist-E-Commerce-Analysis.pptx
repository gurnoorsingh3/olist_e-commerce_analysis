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Public Sans"/>
      <p:regular r:id="rId201314"/>
    </p:embeddedFont>
    <p:embeddedFont>
      <p:font typeface="Public Sans Medium"/>
      <p:regular r:id="rId201315"/>
    </p:embeddedFont>
    <p:embeddedFont>
      <p:font typeface="Public Sans SemiBold"/>
      <p:regular r:id="rId201316"/>
    </p:embeddedFont>
    <p:embeddedFont>
      <p:font typeface="Public Sans Bold"/>
      <p:regular r:id="rId201317"/>
    </p:embeddedFont>
    <p:embeddedFont>
      <p:font typeface="Sora SemiBold"/>
      <p:regular r:id="rId201318"/>
    </p:embeddedFont>
    <p:embeddedFont>
      <p:font typeface="Sora ExtraBold"/>
      <p:regular r:id="rId2013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Relationship Id="rId201316" Type="http://schemas.openxmlformats.org/officeDocument/2006/relationships/font" Target="fonts/201316.fntdata"/><Relationship Id="rId201317" Type="http://schemas.openxmlformats.org/officeDocument/2006/relationships/font" Target="fonts/201317.fntdata"/><Relationship Id="rId201318" Type="http://schemas.openxmlformats.org/officeDocument/2006/relationships/font" Target="fonts/201318.fntdata"/><Relationship Id="rId201319" Type="http://schemas.openxmlformats.org/officeDocument/2006/relationships/font" Target="fonts/201319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Delivered Sales (R$ M)</c:v>
                </c:pt>
              </c:strCache>
            </c:strRef>
          </c:tx>
          <c:spPr>
            <a:solidFill>
              <a:srgbClr val="8093A4"/>
            </a:solidFill>
          </c:spPr>
          <c:dPt>
            <c:idx val="5"/>
            <c:spPr>
              <a:solidFill>
                <a:srgbClr val="0B7A85"/>
              </a:solidFill>
            </c:spPr>
          </c:dPt>
          <c:cat>
            <c:strRef>
              <c:f>Sheet1!$A$2:$A$7</c:f>
              <c:strCache>
                <c:ptCount val="6"/>
                <c:pt idx="0">
                  <c:v>Furniture &amp; Decor</c:v>
                </c:pt>
                <c:pt idx="1">
                  <c:v>Computers &amp; Accessories</c:v>
                </c:pt>
                <c:pt idx="2">
                  <c:v>Sports &amp; Leisure</c:v>
                </c:pt>
                <c:pt idx="3">
                  <c:v>Bed, Bath &amp; Table</c:v>
                </c:pt>
                <c:pt idx="4">
                  <c:v>Watches &amp; Gifts</c:v>
                </c:pt>
                <c:pt idx="5">
                  <c:v>Health &amp; Beauty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0.71</c:v>
                </c:pt>
                <c:pt idx="1">
                  <c:v>0.89</c:v>
                </c:pt>
                <c:pt idx="2">
                  <c:v>0.95</c:v>
                </c:pt>
                <c:pt idx="3">
                  <c:v>1.02</c:v>
                </c:pt>
                <c:pt idx="4">
                  <c:v>1.17</c:v>
                </c:pt>
                <c:pt idx="5">
                  <c:v>1.23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4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latin typeface="Public Sans"/>
                  </a:rPr>
                  <a:t>Delivered Sales (R$ Millions)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B2632"/>
          </a:solidFill>
          <a:latin typeface="Public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review: this analysis synthesizes customer behavior, logistics friction, and delivered revenue from the public Brazilian marketplace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Outline the four analytical themes: sales over time, category leadership, one-time vs repeat customers, and delivery performance and its relationship with review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structural scope: 99.4k total orders containing 112.6k items, filtered to 96,478 delivered orders. Clarify that revenue reflects item price rather than freight or payment charges.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cleaning protocol: retaining unknown categories and score-only reviews preserves volume totals, while excluding incomplete delivery dates prevents distorting fulfillment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sales expansion: delivered orders totaled R$13.22M across 96,478 orders, averaging R$137.04. Highlight the 2017 ramp and that November 2017 was the highest month, while cautioning that early large percentage growth reflects a tiny initial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 the category leaderboard: Health &amp; Beauty (R$1.23M), Watches &amp; Gifts (R$1.17M), and Bed Bath Table (R$1.02M) lead. Note how catalog volume is concentrated among these top sectors.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one-time buyers (97%) against repeat customers (3%). Repeat customers had higher average spending per customer, but the group is much smaller and the observation period is limited.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Break down fulfillment friction: average shipping takes 12.5 days with an 8.11% delay rate overall. Note the geographic disparity: late rates are highest in Northeast states, led by AL (23.93%) and MA (19.67%).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Focus on the central customer experience insight: on-time orders average 4.29, while late orders average 2.57. State the caveat that this is a strong association, not proof that delay is the sole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three priorities: protect the top revenue categories, look into the states with the highest late-delivery rates, and treat delivery reliability as the first lever for customer satisfaction. Remind the audience these are suggestions based on observed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2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CD5D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15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CD5D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C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Relationship Id="rId4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5156" y="736600"/>
            <a:ext cx="2264413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00" spc="96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MARKETPLACE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86757" y="736600"/>
            <a:ext cx="2123823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00" spc="96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BRAZILIAN E-COMMERCE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5156" y="1247080"/>
            <a:ext cx="8019849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600" spc="-84" kern="0" dirty="0">
                <a:solidFill>
                  <a:srgbClr val="FFFFFF"/>
                </a:solidFill>
                <a:latin typeface="Sora ExtraBold" pitchFamily="34" charset="0"/>
                <a:ea typeface="Sora ExtraBold" pitchFamily="34" charset="-122"/>
                <a:cs typeface="Sora ExtraBold" pitchFamily="34" charset="-120"/>
              </a:rPr>
              <a:t>Olist E-Commerce Analysis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65156" y="2885380"/>
            <a:ext cx="801984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business evaluation of scale, purchasing behavior, delivery performance, and customer satisfaction.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65156" y="4053780"/>
            <a:ext cx="801984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spc="12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Executive insights review · Python, SQL, and Power BI pipeline</a:t>
            </a:r>
            <a:endParaRPr lang="en-US" sz="12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250" spc="12" kern="0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Based on the Brazilian public marketplace dataset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51813" y="736600"/>
            <a:ext cx="12700" cy="205680"/>
          </a:xfrm>
          <a:prstGeom prst="rect">
            <a:avLst/>
          </a:prstGeom>
          <a:solidFill>
            <a:srgbClr val="A7B3B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The marketplace story has four lenses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504057"/>
            <a:ext cx="769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dirty="0">
                <a:solidFill>
                  <a:srgbClr val="536270"/>
                </a:solidFill>
                <a:latin typeface="Public Sans SemiBold" pitchFamily="34" charset="0"/>
                <a:ea typeface="Public Sans SemiBold" pitchFamily="34" charset="-122"/>
                <a:cs typeface="Public Sans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21719" y="1402457"/>
            <a:ext cx="5997127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Sales scale over time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21719" y="1866602"/>
            <a:ext cx="5997127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Revenue over time, the peak month, and month-to-month changes across 2016–2018.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09585" y="2745978"/>
            <a:ext cx="79968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dirty="0">
                <a:solidFill>
                  <a:srgbClr val="536270"/>
                </a:solidFill>
                <a:latin typeface="Public Sans SemiBold" pitchFamily="34" charset="0"/>
                <a:ea typeface="Public Sans SemiBold" pitchFamily="34" charset="-122"/>
                <a:cs typeface="Public Sans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52079" y="2644378"/>
            <a:ext cx="5966767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Product category concentration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2079" y="3108523"/>
            <a:ext cx="5966767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Delivered revenue by product category and the top revenue drivers.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09585" y="3987899"/>
            <a:ext cx="80375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dirty="0">
                <a:solidFill>
                  <a:srgbClr val="536270"/>
                </a:solidFill>
                <a:latin typeface="Public Sans SemiBold" pitchFamily="34" charset="0"/>
                <a:ea typeface="Public Sans SemiBold" pitchFamily="34" charset="-122"/>
                <a:cs typeface="Public Sans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56147" y="3886299"/>
            <a:ext cx="5962699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Customer purchasing behavior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6147" y="4350445"/>
            <a:ext cx="5962699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One-time vs repeat customers, spending per customer, and observation-period limits.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585" y="5229920"/>
            <a:ext cx="8032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200" dirty="0">
                <a:solidFill>
                  <a:srgbClr val="536270"/>
                </a:solidFill>
                <a:latin typeface="Public Sans SemiBold" pitchFamily="34" charset="0"/>
                <a:ea typeface="Public Sans SemiBold" pitchFamily="34" charset="-122"/>
                <a:cs typeface="Public Sans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5651" y="5128320"/>
            <a:ext cx="5963195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Logistics performance &amp; satisfaction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55651" y="5592465"/>
            <a:ext cx="5963195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 times, state-level late rates, and how they relate to review scores.</a:t>
            </a:r>
            <a:endParaRPr lang="en-US" sz="14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5936" y="1280616"/>
            <a:ext cx="4206174" cy="2743101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375936" y="4150618"/>
            <a:ext cx="4206174" cy="2097782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629929" y="4665464"/>
            <a:ext cx="3698187" cy="1067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3A4756"/>
                </a:solidFill>
                <a:latin typeface="Public Sans Bold" pitchFamily="34" charset="0"/>
                <a:ea typeface="Public Sans Bold" pitchFamily="34" charset="-122"/>
                <a:cs typeface="Public Sans Bold" pitchFamily="34" charset="-120"/>
              </a:rPr>
              <a:t>Analytical workflow: data cleaned and checked with Python &amp; pandas, analysed with SQL in PostgreSQL, and presented in Power BI.</a:t>
            </a: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09585" y="2516188"/>
            <a:ext cx="6309262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9" name="Shape 16"/>
          <p:cNvSpPr/>
          <p:nvPr/>
        </p:nvSpPr>
        <p:spPr>
          <a:xfrm>
            <a:off x="609585" y="3758109"/>
            <a:ext cx="6309262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585" y="5000030"/>
            <a:ext cx="6309262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21" name="Text 18"/>
          <p:cNvSpPr/>
          <p:nvPr/>
        </p:nvSpPr>
        <p:spPr>
          <a:xfrm>
            <a:off x="11402132" y="6451898"/>
            <a:ext cx="789563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The dataset is broad enough to connect orders to experience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1875433"/>
          <a:ext cx="9143771" cy="914400"/>
        </p:xfrm>
        <a:graphic>
          <a:graphicData uri="http://schemas.openxmlformats.org/drawingml/2006/table">
            <a:tbl>
              <a:tblPr/>
              <a:tblGrid>
                <a:gridCol w="1822658"/>
                <a:gridCol w="1261840"/>
                <a:gridCol w="3925726"/>
              </a:tblGrid>
              <a:tr h="3694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TABLE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RECORDS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ROLE IN ANALYSIS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7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Orders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99,441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Lifecycle timestamps (purchase, approval, delivery, estimated delivery).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7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Order Items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112,650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Item-level pricing, freight value, and seller IDs across orders.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7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Customers &amp; Geolocation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99,441 cust.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Links customer unique IDs to destination cities and federative states.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63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Reviews &amp; Products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99,224 rev.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1-to-5 satisfaction scores linked with translated product categories.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76198" marB="7619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09585" y="5136555"/>
            <a:ext cx="7010225" cy="322263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relational schema links operational logistics with post-purchase customer perception.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8076998" y="1646833"/>
            <a:ext cx="3505112" cy="4601567"/>
          </a:xfrm>
          <a:prstGeom prst="roundRect">
            <a:avLst>
              <a:gd name="adj" fmla="val 924"/>
            </a:avLst>
          </a:prstGeom>
          <a:solidFill>
            <a:srgbClr val="E7EAF0"/>
          </a:solidFill>
          <a:ln/>
        </p:spPr>
      </p:sp>
      <p:sp>
        <p:nvSpPr>
          <p:cNvPr id="6" name="Shape 3"/>
          <p:cNvSpPr/>
          <p:nvPr/>
        </p:nvSpPr>
        <p:spPr>
          <a:xfrm>
            <a:off x="8076998" y="1646833"/>
            <a:ext cx="3505112" cy="1993999"/>
          </a:xfrm>
          <a:prstGeom prst="rect">
            <a:avLst/>
          </a:prstGeom>
          <a:solidFill>
            <a:srgbClr val="E4EAEF"/>
          </a:solidFill>
          <a:ln/>
        </p:spPr>
      </p:sp>
      <p:sp>
        <p:nvSpPr>
          <p:cNvPr id="7" name="Text 4"/>
          <p:cNvSpPr/>
          <p:nvPr/>
        </p:nvSpPr>
        <p:spPr>
          <a:xfrm>
            <a:off x="8305592" y="1850033"/>
            <a:ext cx="3276518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3A4756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DELIVERED BASE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305592" y="2133798"/>
            <a:ext cx="3047924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3A4756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96,478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305592" y="2804815"/>
            <a:ext cx="3047924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Delivered orders with completed tracking records.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05592" y="3844032"/>
            <a:ext cx="3276518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REVENUE CALCULATION RULE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305592" y="4169073"/>
            <a:ext cx="3047924" cy="1334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Gross merchandise revenue is calculated strictly using </a:t>
            </a:r>
            <a:pPr algn="l" indent="0" marL="0">
              <a:lnSpc>
                <a:spcPct val="121000"/>
              </a:lnSpc>
              <a:buNone/>
            </a:pPr>
            <a:r>
              <a:rPr lang="en-US" sz="1450" b="1" dirty="0">
                <a:solidFill>
                  <a:srgbClr val="3A4756"/>
                </a:solidFill>
                <a:latin typeface="Public Sans Bold" pitchFamily="34" charset="0"/>
                <a:ea typeface="Public Sans Bold" pitchFamily="34" charset="-122"/>
                <a:cs typeface="Public Sans Bold" pitchFamily="34" charset="-120"/>
              </a:rPr>
              <a:t>order-items item price</a:t>
            </a:r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, isolating merchandise value from freight and payment instalment fees.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398263" y="6451898"/>
            <a:ext cx="793432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Cleaning choices protected the analysis from false precision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585" y="1735733"/>
          <a:ext cx="9143771" cy="914400"/>
        </p:xfrm>
        <a:graphic>
          <a:graphicData uri="http://schemas.openxmlformats.org/drawingml/2006/table">
            <a:tbl>
              <a:tblPr/>
              <a:tblGrid>
                <a:gridCol w="2194505"/>
                <a:gridCol w="1755604"/>
                <a:gridCol w="3950109"/>
                <a:gridCol w="3072307"/>
              </a:tblGrid>
              <a:tr h="44567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AREA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CONDITION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ACTION TAKEN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spc="96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METHOD RATIONALE</a:t>
                      </a:r>
                      <a:endParaRPr lang="en-US" sz="12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59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Missing Values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spc="66" kern="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Retained</a:t>
                      </a:r>
                      <a:endParaRPr lang="en-US" sz="11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Kept null product categories as unknown; retained reviews without text titles or written survey messages.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Protects sales and order counts; numerical 1–5 score is the primary feedback signal.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59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IDs &amp; Duplicates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spc="66" kern="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Verified</a:t>
                      </a:r>
                      <a:endParaRPr lang="en-US" sz="11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Checked review IDs instead of assuming one ID per order; confirmed that orders can contain multiple items.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Preserves legitimate multiple items within single order transactions.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689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Types &amp; Dates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spc="66" kern="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Verified</a:t>
                      </a:r>
                      <a:endParaRPr lang="en-US" sz="11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Checked data types and date conversions.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Keeps dates consistent for time-based calculations.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956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Delivery Anomalies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spc="66" kern="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Excluded</a:t>
                      </a:r>
                      <a:endParaRPr lang="en-US" sz="11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Investigated delivery-date anomalies; excluded them only when they affected delivery calculations.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Keeps delivery-time metrics reliable without discarding valid orders.</a:t>
                      </a:r>
                      <a:endParaRPr lang="en-US" sz="14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26997" marR="126997" marT="114297" marB="114297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397766" y="6451898"/>
            <a:ext cx="793929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Delivered sales reached about R$13.22M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9585" y="1280616"/>
            <a:ext cx="3572877" cy="1524000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87380" y="1433016"/>
            <a:ext cx="33950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Total Delivered Sales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87380" y="1841004"/>
            <a:ext cx="3217286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00" spc="-64" kern="0" dirty="0">
                <a:solidFill>
                  <a:srgbClr val="0E7C86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R$ 13.22M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87380" y="2463304"/>
            <a:ext cx="33950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Across valid delivered items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09359" y="1280616"/>
            <a:ext cx="3572976" cy="1524000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487155" y="1433016"/>
            <a:ext cx="33951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Delivered Orders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87155" y="1841004"/>
            <a:ext cx="3217385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00" spc="-64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96,478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487155" y="2463304"/>
            <a:ext cx="33951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Completed transactions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9233" y="1280616"/>
            <a:ext cx="3572877" cy="1524000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87029" y="1433016"/>
            <a:ext cx="33950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Average Order Value (AOV)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87029" y="1841004"/>
            <a:ext cx="3217286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00" spc="-64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R$ 137.04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87029" y="2463304"/>
            <a:ext cx="33950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 delivered order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09585" y="5878016"/>
            <a:ext cx="10972526" cy="322263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Early-2017 percentage growth was amplified by a very small base, so it is not treated as a meaningful trend.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395881" y="6451898"/>
            <a:ext cx="795814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</a:t>
            </a:r>
            <a:endParaRPr lang="en-US" sz="1100" dirty="0"/>
          </a:p>
        </p:txBody>
      </p:sp>
      <p:pic>
        <p:nvPicPr>
          <p:cNvPr id="18" name="Picture 17" descr="month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2998291"/>
            <a:ext cx="5352194" cy="2798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18979" y="3501211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B2632"/>
                </a:solidFill>
                <a:latin typeface="Public Sans"/>
              </a:rPr>
              <a:t>Delivered sales rose through 2017, with some month-to-month dips.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2632"/>
                </a:solidFill>
                <a:latin typeface="Public Sans"/>
              </a:rPr>
              <a:t>November 2017 was the highest month in the dataset.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Health &amp; beauty led delivered revenue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585" y="5418634"/>
            <a:ext cx="6484478" cy="536575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top three product categories generated about R$3.4M, representing roughly 26% of all marketplace sales.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7551152" y="1640681"/>
            <a:ext cx="4030959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CATEGORY CONCENTRATION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551152" y="1924447"/>
            <a:ext cx="4030959" cy="82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2400" spc="-24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Six categories lead delivered revenue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551152" y="2902942"/>
            <a:ext cx="4030959" cy="1067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Health &amp; beauty, watches &amp; gifts and bed &amp; bath table lead, followed by sports &amp; leisure, computers &amp; accessories and furniture &amp; decor.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551152" y="4123333"/>
            <a:ext cx="4030959" cy="1764903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754347" y="4301133"/>
            <a:ext cx="3827764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Category Strategy Takeaway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54347" y="4642445"/>
            <a:ext cx="3624569" cy="1067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 the biggest revenue drivers, these categories are a sensible place to focus delivery and availability.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1399354" y="6451898"/>
            <a:ext cx="792341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06</a:t>
            </a:r>
            <a:endParaRPr lang="en-US" sz="1100" dirty="0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09585" y="1573709"/>
          <a:ext cx="6476838" cy="3683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91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About 97% of customers made one delivered purchase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990725"/>
            <a:ext cx="4825879" cy="330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9585" y="5456734"/>
            <a:ext cx="5257668" cy="536575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About 93.4K customers placed delivered orders; roughly 97% purchased only once during the period.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6324442" y="2018109"/>
            <a:ext cx="2565336" cy="1970683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553036" y="2221309"/>
            <a:ext cx="233674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One-Time Customers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553036" y="2629297"/>
            <a:ext cx="2108147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00" spc="-64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~97%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553036" y="3251597"/>
            <a:ext cx="2108147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About 91K customers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9016774" y="2018109"/>
            <a:ext cx="2565336" cy="1970683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245369" y="2221309"/>
            <a:ext cx="233674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Repeat Customers (2+)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245369" y="2629297"/>
            <a:ext cx="2108147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00" spc="-64" kern="0" dirty="0">
                <a:solidFill>
                  <a:srgbClr val="0E7C86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~3%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245369" y="3251597"/>
            <a:ext cx="2108147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About 3K customers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324442" y="4166592"/>
            <a:ext cx="5257668" cy="1799431"/>
          </a:xfrm>
          <a:prstGeom prst="roundRect">
            <a:avLst>
              <a:gd name="adj" fmla="val 1800"/>
            </a:avLst>
          </a:prstGeom>
          <a:noFill/>
          <a:ln w="25399">
            <a:solidFill>
              <a:srgbClr val="CDD0D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3036" y="4369792"/>
            <a:ext cx="502907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OBSERVATION-PERIOD CAVEAT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553036" y="4694833"/>
            <a:ext cx="4800480" cy="1067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observation period is limited, so the repeat-customer share may understate long-term repurchasing. Repeat customers did show higher average spending per customer, but the group is much smaller.</a:t>
            </a: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1404116" y="6451898"/>
            <a:ext cx="787579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Delivery is the clearest friction point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2023566"/>
            <a:ext cx="4206075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OVERALL FULFILLMENT BENCHMARK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2307332"/>
            <a:ext cx="4206075" cy="868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9000"/>
              </a:lnSpc>
              <a:buNone/>
            </a:pPr>
            <a:r>
              <a:rPr lang="en-US" sz="7200" spc="-216" kern="0" dirty="0">
                <a:solidFill>
                  <a:srgbClr val="0E7C86"/>
                </a:solidFill>
                <a:latin typeface="Sora ExtraBold" pitchFamily="34" charset="0"/>
                <a:ea typeface="Sora ExtraBold" pitchFamily="34" charset="-122"/>
                <a:cs typeface="Sora ExtraBold" pitchFamily="34" charset="-120"/>
              </a:rPr>
              <a:t>12.5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09585" y="3302992"/>
            <a:ext cx="42060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2400" spc="-4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Days average delivery time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788767"/>
            <a:ext cx="420607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Across valid delivered orders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09585" y="4257080"/>
            <a:ext cx="4206075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200" spc="-64" kern="0" dirty="0">
                <a:solidFill>
                  <a:srgbClr val="94681C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8.11%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09585" y="4879380"/>
            <a:ext cx="4206075" cy="626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70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Late delivery rate nationwide across 96,478 valid deliveries.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272749" y="1507034"/>
            <a:ext cx="6309361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TOP 5 STATES BY LATE DELIVERY RATE (MIN. ORDER THRESHOLD APPLIED)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72749" y="1832074"/>
          <a:ext cx="6309361" cy="3360000"/>
        </p:xfrm>
        <a:graphic>
          <a:graphicData uri="http://schemas.openxmlformats.org/drawingml/2006/table">
            <a:tbl>
              <a:tblPr/>
              <a:tblGrid>
                <a:gridCol w="2700000"/>
                <a:gridCol w="3609361"/>
              </a:tblGrid>
              <a:tr h="56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spc="92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STATE (UF)</a:t>
                      </a:r>
                      <a:endParaRPr lang="en-US" sz="11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09535" marR="109535" marT="58419" marB="58419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spc="92" kern="0" dirty="0">
                          <a:solidFill>
                            <a:srgbClr val="1B2632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LATE DELIVERY RATE</a:t>
                      </a:r>
                      <a:endParaRPr lang="en-US" sz="115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09535" marR="109535" marT="58419" marB="58419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Alagoas (AL)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23.93%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Maranhão (MA)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19.67%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Piauí (PI)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15.97%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Ceará (CE)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15.32%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Sergipe (SE)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A475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15.22%</a:t>
                      </a:r>
                      <a:endParaRPr lang="en-US" sz="17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161921" marR="161921" marT="86358" marB="86358" anchor="ctr">
                    <a:lnL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26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9FA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272749" y="5699720"/>
            <a:ext cx="6309361" cy="322263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Late-delivery rates vary widely by state; Alagoas (23.93%) and Maranhão (19.67%) are highest, against 8.11% nationwide.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395881" y="6451898"/>
            <a:ext cx="795814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Late deliveries align with much lower review scores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1637209"/>
            <a:ext cx="6222844" cy="3556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9585" y="5355134"/>
            <a:ext cx="6309262" cy="536575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Late orders scored 1.72 points lower on a 5-point scale than on-time orders.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7375936" y="1479252"/>
            <a:ext cx="4206174" cy="2326283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629929" y="1707852"/>
            <a:ext cx="395218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Satisfaction Score Gap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629929" y="2115840"/>
            <a:ext cx="3698187" cy="711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5600" spc="-112" kern="0" dirty="0">
                <a:solidFill>
                  <a:srgbClr val="A6524A"/>
                </a:solidFill>
                <a:latin typeface="Sora ExtraBold" pitchFamily="34" charset="0"/>
                <a:ea typeface="Sora ExtraBold" pitchFamily="34" charset="-122"/>
                <a:cs typeface="Sora ExtraBold" pitchFamily="34" charset="-120"/>
              </a:rPr>
              <a:t>−1.72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7629929" y="3042940"/>
            <a:ext cx="3698187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Late orders scored about 40% lower on average than on-time orders.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375936" y="3983335"/>
            <a:ext cx="4206174" cy="2066429"/>
          </a:xfrm>
          <a:prstGeom prst="roundRect">
            <a:avLst>
              <a:gd name="adj" fmla="val 1567"/>
            </a:avLst>
          </a:prstGeom>
          <a:noFill/>
          <a:ln w="25399">
            <a:solidFill>
              <a:srgbClr val="CDD0D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604530" y="4186535"/>
            <a:ext cx="397758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ANALYTICAL FINDING VS CAUSALITY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604530" y="4511576"/>
            <a:ext cx="3748986" cy="1334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shows a strong association in the data, not proof that late delivery alone caused the lower scores. Other factors may also play a part.</a:t>
            </a:r>
            <a:pPr algn="l" indent="0" marL="0">
              <a:lnSpc>
                <a:spcPct val="121000"/>
              </a:lnSpc>
              <a:buNone/>
            </a:pPr>
            <a:pPr algn="l" indent="0" marL="0">
              <a:lnSpc>
                <a:spcPct val="121000"/>
              </a:lnSpc>
              <a:buNone/>
            </a:pP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399056" y="6451898"/>
            <a:ext cx="792639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09600"/>
            <a:ext cx="10972526" cy="4551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3000"/>
              </a:lnSpc>
              <a:buNone/>
            </a:pPr>
            <a:r>
              <a:rPr lang="en-US" sz="3200" spc="-32" kern="0" dirty="0">
                <a:solidFill>
                  <a:srgbClr val="1B2632"/>
                </a:solidFill>
                <a:latin typeface="Sora SemiBold" pitchFamily="34" charset="0"/>
                <a:ea typeface="Sora SemiBold" pitchFamily="34" charset="-122"/>
                <a:cs typeface="Sora SemiBold" pitchFamily="34" charset="-120"/>
              </a:rPr>
              <a:t>Three business priorities emerge from the findings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09585" y="1382216"/>
            <a:ext cx="665969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PRIORITY 01 · COMMERCIAL DEFENSE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1665982"/>
            <a:ext cx="6659694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Protect core revenue-driving categories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585" y="2130127"/>
            <a:ext cx="6659694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Keep delivery and availability strong in Health &amp; Beauty, Watches &amp; Gifts, and Bed, Bath &amp; Table, which drive the most revenue.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09585" y="2867323"/>
            <a:ext cx="665969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PRIORITY 02 · REGIONAL LOGISTICS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585" y="3151088"/>
            <a:ext cx="6659694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Investigate high late-delivery regions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3615234"/>
            <a:ext cx="6659694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Look into what drives higher late-delivery rates in AL (23.93%), MA (19.67%), BA (14.04%) and Rio de Janeiro (13.47%).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09585" y="4352429"/>
            <a:ext cx="665969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PRIORITY 03 · CUSTOMER RETENTION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585" y="4636195"/>
            <a:ext cx="6659694" cy="308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800" spc="-18" kern="0" dirty="0">
                <a:solidFill>
                  <a:srgbClr val="1B263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Treat delivery reliability as a priority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5100340"/>
            <a:ext cx="6659694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Late orders had much lower review scores, so improving on-time delivery is a sensible first step toward better satisfaction and repeat purchases.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585" y="5939135"/>
            <a:ext cx="6659694" cy="322263"/>
          </a:xfrm>
          <a:prstGeom prst="rect">
            <a:avLst/>
          </a:prstGeom>
          <a:noFill/>
          <a:ln/>
        </p:spPr>
        <p:txBody>
          <a:bodyPr wrap="square" lIns="0" tIns="101598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Recommendations are suggestions based on observed patterns, not proven causes.</a:t>
            </a:r>
            <a:endParaRPr lang="en-US" sz="12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8" y="1280616"/>
            <a:ext cx="3855643" cy="2750443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726368" y="4157960"/>
            <a:ext cx="3855643" cy="2103338"/>
          </a:xfrm>
          <a:prstGeom prst="rect">
            <a:avLst/>
          </a:prstGeom>
          <a:solidFill>
            <a:srgbClr val="E7EAF0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980361" y="4513064"/>
            <a:ext cx="36016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spc="96" kern="0" dirty="0">
                <a:solidFill>
                  <a:srgbClr val="536270"/>
                </a:solidFill>
                <a:latin typeface="Public Sans Medium" pitchFamily="34" charset="0"/>
                <a:ea typeface="Public Sans Medium" pitchFamily="34" charset="-122"/>
                <a:cs typeface="Public Sans Medium" pitchFamily="34" charset="-120"/>
              </a:rPr>
              <a:t>SUMMARY TAKEAWAY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980361" y="4838105"/>
            <a:ext cx="3347656" cy="1067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450" dirty="0">
                <a:solidFill>
                  <a:srgbClr val="3A475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 reliability showed the clearest link to customer satisfaction in this data, making it a sensible first focus.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09585" y="2759373"/>
            <a:ext cx="6659694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8" name="Shape 15"/>
          <p:cNvSpPr/>
          <p:nvPr/>
        </p:nvSpPr>
        <p:spPr>
          <a:xfrm>
            <a:off x="609585" y="4244479"/>
            <a:ext cx="6659694" cy="12700"/>
          </a:xfrm>
          <a:prstGeom prst="rect">
            <a:avLst/>
          </a:prstGeom>
          <a:solidFill>
            <a:srgbClr val="A7B3BE"/>
          </a:solidFill>
          <a:ln/>
        </p:spPr>
      </p:sp>
      <p:sp>
        <p:nvSpPr>
          <p:cNvPr id="19" name="Text 16"/>
          <p:cNvSpPr/>
          <p:nvPr/>
        </p:nvSpPr>
        <p:spPr>
          <a:xfrm>
            <a:off x="11428523" y="6451898"/>
            <a:ext cx="763172" cy="202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21000"/>
              </a:lnSpc>
              <a:buNone/>
            </a:pPr>
            <a:r>
              <a:rPr lang="en-US" sz="1100" spc="44" kern="0" dirty="0">
                <a:solidFill>
                  <a:srgbClr val="53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2026-09-25T14:31:50Z</dcterms:created>
  <dcterms:modified xsi:type="dcterms:W3CDTF">2026-09-25T14:31:50Z</dcterms:modified>
</cp:coreProperties>
</file>