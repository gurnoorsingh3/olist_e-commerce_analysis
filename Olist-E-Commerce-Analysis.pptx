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  <p:embeddedFont>
      <p:font typeface="Sor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review: this analysis synthesizes customer behavior, logistics friction, and delivered revenue from the public Brazilian marketplace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four analytical themes: commercial volume, category leadership, one-time customer behavior, and fulfillment friction connecting directly to review sentiment.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structural scope: 99.4k total orders containing 112.6k items, filtered to 96,478 delivered orders. Clarify that revenue reflects item price rather than freight or payment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cleaning protocol: retaining unknown categories and score-only reviews preserves volume totals, while excluding incomplete delivery dates prevents distorting fulfillment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sales expansion: delivered orders totaled R$13.22M across 96,478 orders, averaging R$137.04. Highlight the 2017 ramp and November peak (R$1.01M) while cautioning that early triple-digit growth reflects tiny initial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category leaderboard: Health &amp; Beauty (R$1.26M), Watches &amp; Gifts (R$1.17M), and Bed Bath Table (R$1.04M) lead. Note how catalog volume is concentrated among these top sectors.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one-time buyers (97%) against repeat customers (3%). Highlight that repeat buyers spend nearly double across their relationship, while clearly articulating the observation-window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down fulfillment friction: average shipping takes 12.5 days with an 8.11% delay rate overall. Note extreme geographic disparity: SP sits at 5.4% late, whereas RJ reaches 11.6% and AL exceeds 23%.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central customer experience insight: on-time orders score 4.29, while late orders collapse to 2.57. Explicitly state the methodological caveat that this is a strong association, not proof that delay is the sole causal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Synthesize the analysis into three actionable business priorities: category protection, targeted regional logistics remediation, and positioning fulfillment reliability as the primary lever for customer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36600"/>
            <a:ext cx="226441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MARKETPLACE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86757" y="736600"/>
            <a:ext cx="212382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BRAZILIAN E-COMMERCE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6" y="1247080"/>
            <a:ext cx="80198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Olist E-Commerce 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2885380"/>
            <a:ext cx="801984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business evaluation of scale, purchasing behavior, delivery performance, and customer satisfaction.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4053780"/>
            <a:ext cx="80198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12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insights review · Python, SQL, and Power BI pipeline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spc="12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Based on the Brazilian public marketplace 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51813" y="736600"/>
            <a:ext cx="12700" cy="205680"/>
          </a:xfrm>
          <a:prstGeom prst="rect">
            <a:avLst/>
          </a:prstGeom>
          <a:solidFill>
            <a:srgbClr val="A7B3B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marketplace story has four lenses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504057"/>
            <a:ext cx="7693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1719" y="1402457"/>
            <a:ext cx="599712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Sales scale over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1719" y="1866602"/>
            <a:ext cx="599712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trajectory, peak monthly volumes, and seasonality patterns across 2016–2018.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2745978"/>
            <a:ext cx="7996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079" y="2644378"/>
            <a:ext cx="59667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category concentration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079" y="3108523"/>
            <a:ext cx="596676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 contributions, top revenue drivers, and catalogue breadth across translated categories.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3987899"/>
            <a:ext cx="80375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6147" y="3886299"/>
            <a:ext cx="596269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purchasing behavior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6147" y="4350445"/>
            <a:ext cx="596269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Repeat rate benchmarks, customer spending distribution, and observation-window considerations.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585" y="5229920"/>
            <a:ext cx="8032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5651" y="5128320"/>
            <a:ext cx="596319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Logistics performance &amp; satisfaction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5651" y="5592465"/>
            <a:ext cx="59631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 timelines, state-level late rates, and their correlation with review scores.</a:t>
            </a:r>
            <a:endParaRPr lang="en-US" sz="14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1280616"/>
            <a:ext cx="4206174" cy="2743101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375936" y="4150618"/>
            <a:ext cx="4206174" cy="2097782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7" name="Text 14"/>
          <p:cNvSpPr/>
          <p:nvPr/>
        </p:nvSpPr>
        <p:spPr>
          <a:xfrm>
            <a:off x="7629929" y="4665464"/>
            <a:ext cx="3698187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Analytical workflow: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Raw relational schemas processed via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Python &amp; pandas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validated in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PostgreSQL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modeled for exploratory review in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Power BI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09585" y="2516188"/>
            <a:ext cx="6309262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5" y="3758109"/>
            <a:ext cx="6309262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85" y="5000030"/>
            <a:ext cx="6309262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1" name="Text 18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dataset is broad enough to connect orders to experience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75433"/>
          <a:ext cx="9143771" cy="914400"/>
        </p:xfrm>
        <a:graphic>
          <a:graphicData uri="http://schemas.openxmlformats.org/drawingml/2006/table">
            <a:tbl>
              <a:tblPr/>
              <a:tblGrid>
                <a:gridCol w="1822658"/>
                <a:gridCol w="1261840"/>
                <a:gridCol w="3925726"/>
              </a:tblGrid>
              <a:tr h="3694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TABLE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RECORDS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ROLE IN ANALYSIS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7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Orders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99,441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Lifecycle timestamps (purchase, approval, delivery, estimated delivery).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7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Order Items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112,650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Item-level pricing, freight value, and seller IDs across orders.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7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Customers &amp; Geolocation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99,441 cust.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Links customer unique IDs to destination cities and federative states.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3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Reviews &amp; Products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99,224 rev.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1-to-5 satisfaction scores linked with translated product categories.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136555"/>
            <a:ext cx="7010225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relational schema links operational logistics with post-purchase customer perception.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076998" y="1646833"/>
            <a:ext cx="3505112" cy="4601567"/>
          </a:xfrm>
          <a:prstGeom prst="roundRect">
            <a:avLst>
              <a:gd name="adj" fmla="val 924"/>
            </a:avLst>
          </a:prstGeom>
          <a:solidFill>
            <a:srgbClr val="E7EAF0"/>
          </a:solidFill>
          <a:ln/>
        </p:spPr>
      </p:sp>
      <p:sp>
        <p:nvSpPr>
          <p:cNvPr id="6" name="Shape 3"/>
          <p:cNvSpPr/>
          <p:nvPr/>
        </p:nvSpPr>
        <p:spPr>
          <a:xfrm>
            <a:off x="8076998" y="1646833"/>
            <a:ext cx="3505112" cy="1993999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4"/>
          <p:cNvSpPr/>
          <p:nvPr/>
        </p:nvSpPr>
        <p:spPr>
          <a:xfrm>
            <a:off x="8305592" y="1850033"/>
            <a:ext cx="32765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DELIVERED BASE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05592" y="2133798"/>
            <a:ext cx="30479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96,478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305592" y="2804815"/>
            <a:ext cx="304792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Delivered orders with completed tracking records.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05592" y="3844032"/>
            <a:ext cx="32765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REVENUE CALCULATION RULE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05592" y="4169073"/>
            <a:ext cx="3047924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Gross merchandise revenue is calculated strictly using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order-items item price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isolating merchandise value from freight and payment instalment fees.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Cleaning choices protected the analysis from false precision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35733"/>
          <a:ext cx="9143771" cy="914400"/>
        </p:xfrm>
        <a:graphic>
          <a:graphicData uri="http://schemas.openxmlformats.org/drawingml/2006/table">
            <a:tbl>
              <a:tblPr/>
              <a:tblGrid>
                <a:gridCol w="2194505"/>
                <a:gridCol w="1755604"/>
                <a:gridCol w="3950109"/>
                <a:gridCol w="3072307"/>
              </a:tblGrid>
              <a:tr h="445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AREA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CONDITION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ACTION TAKEN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96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METHOD RATIONALE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5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Missing Values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66" kern="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Retained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Kept null product categories as unknown; retained reviews without text titles or written survey messages.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Protects sales and order counts; numerical 1–5 score is the primary feedback signal.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5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IDs &amp; Duplicates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66" kern="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Verified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Checked review IDs; audited multi-item order occurrences and distinct survey submissions.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Preserves legitimate multiple items within single order transactions.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9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Types &amp; Dates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66" kern="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Verified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Checked data types and date conversions.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Keeps dates consistent for time-based calculations.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5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Delivery Anomalies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66" kern="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Excluded</a:t>
                      </a:r>
                      <a:endParaRPr lang="en-US" sz="11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Excluded cancelled, unavailable, or missing delivery timestamps only when they affected calculations.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Uses validated delivery records; prevents negative durations and unclosed fulfillment bias.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Delivered sales reached about R$13.22M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3572877" cy="152400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433016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Delivered Sales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87380" y="1841004"/>
            <a:ext cx="32172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R$ 13.22M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7380" y="2463304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Across valid delivered items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09359" y="1280616"/>
            <a:ext cx="3572976" cy="152400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4487155" y="1433016"/>
            <a:ext cx="3395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Delivered Orders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7155" y="1841004"/>
            <a:ext cx="321738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96,478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87155" y="2463304"/>
            <a:ext cx="3395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Completed transactions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9233" y="1280616"/>
            <a:ext cx="3572877" cy="152400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8187029" y="1433016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Order Value (AOV)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7029" y="1841004"/>
            <a:ext cx="32172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R$ 137.04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87029" y="2463304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 delivered order</a:t>
            </a:r>
            <a:endParaRPr lang="en-US" sz="1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98291"/>
            <a:ext cx="10794730" cy="2794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09585" y="5878016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Early 2017 percentage growth was amplified by a small base; November 2017 delivered sales reached R$1.01M during Black Friday promotions.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Health &amp; beauty led delivered revenue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73709"/>
            <a:ext cx="6476838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18634"/>
            <a:ext cx="6484478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top three product categories generated over R$3.47M, representing more than 26% of all marketplace sales.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551152" y="1640681"/>
            <a:ext cx="40309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CATEGORY CONCENTRATION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551152" y="1924447"/>
            <a:ext cx="403095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 6 categories anchor marketplace turnover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51152" y="2902942"/>
            <a:ext cx="4030959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is concentrated in personal care, giftware, and home furnishings. While Olist lists over 70 translated categories, commercial liquidity relies heavily on the top ten segments.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551152" y="4123333"/>
            <a:ext cx="4030959" cy="176490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9" name="Text 6"/>
          <p:cNvSpPr/>
          <p:nvPr/>
        </p:nvSpPr>
        <p:spPr>
          <a:xfrm>
            <a:off x="7754347" y="4301133"/>
            <a:ext cx="38277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Category Strategy Takeaway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54347" y="4642445"/>
            <a:ext cx="3624569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Fulfillment failures or stockouts in Health &amp; Beauty or Watches &amp; Gifts disproportionately damage marketplace revenue.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About 97% of customers made one delivered purchase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90725"/>
            <a:ext cx="4825879" cy="330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56734"/>
            <a:ext cx="5257668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93,358 unique customers placed orders; approximately 97% purchased only once in the dataset window.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324442" y="2018109"/>
            <a:ext cx="2565336" cy="19706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6553036" y="2221309"/>
            <a:ext cx="23367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One-Time Customers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53036" y="2629297"/>
            <a:ext cx="210814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~97%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553036" y="3251597"/>
            <a:ext cx="210814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R$ 136.60 average spend per customer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016774" y="2018109"/>
            <a:ext cx="2565336" cy="19706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9245369" y="2221309"/>
            <a:ext cx="23367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Repeat Customers (2+)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245369" y="2629297"/>
            <a:ext cx="210814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~3%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245369" y="3251597"/>
            <a:ext cx="210814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R$ 254.20 average cumulative spend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24442" y="4166592"/>
            <a:ext cx="5257668" cy="1799431"/>
          </a:xfrm>
          <a:prstGeom prst="roundRect">
            <a:avLst>
              <a:gd name="adj" fmla="val 1800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3036" y="4369792"/>
            <a:ext cx="502907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OBSERVATION-PERIOD CAVEAT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53036" y="4694833"/>
            <a:ext cx="4800480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24-month observation window naturally undercounts long repurchase cycles. However, repeat buyers demonstrate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86% higher cumulative customer value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signaling substantial retention upside.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Delivery is the clearest friction point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023566"/>
            <a:ext cx="420607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OVERALL FULFILLMENT BENCHMARK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2307332"/>
            <a:ext cx="420607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200" spc="-216" kern="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12.5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09585" y="3302992"/>
            <a:ext cx="42060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Days average delivery time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3788767"/>
            <a:ext cx="42060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From purchase approval to customer delivery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585" y="4257080"/>
            <a:ext cx="420607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94681C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8.11%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9585" y="4879380"/>
            <a:ext cx="420607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Late delivery rate nationwide across 96,478 valid deliveries.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72749" y="1507034"/>
            <a:ext cx="630936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STATE-LEVEL DISPARITY (MIN. 500 ORDERS THRESHOLD)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749" y="1832074"/>
          <a:ext cx="9143771" cy="914400"/>
        </p:xfrm>
        <a:graphic>
          <a:graphicData uri="http://schemas.openxmlformats.org/drawingml/2006/table">
            <a:tbl>
              <a:tblPr/>
              <a:tblGrid>
                <a:gridCol w="2145183"/>
                <a:gridCol w="4164178"/>
              </a:tblGrid>
              <a:tr h="559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STATE (UF)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DELIVERED ORDERS · AVERAGE DAYS · LATE RATE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São Paulo (SP)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40,494 · 8.3 d · 5.4%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Minas Gerais (MG)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11,353 · 11.5 d · 7.1%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Rio de Janeiro (RJ)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12,350 · 14.9 d · 11.6%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Bahia (BA)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3,256 · 18.7 d · 15.9%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Alagoas (AL)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502 · 24.0 d · 23.1%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272749" y="5699720"/>
            <a:ext cx="6309361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Late-delivery rates vary by state; Northeast states face delays exceeding 3 weeks.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Late deliveries align with much lower review scores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37209"/>
            <a:ext cx="6222844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355134"/>
            <a:ext cx="630926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scores drop by 1.72 points on a 5-point scale when orders miss the estimated arrival date.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75936" y="1479252"/>
            <a:ext cx="4206174" cy="23262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629929" y="1707852"/>
            <a:ext cx="3952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Satisfaction Score Gap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29929" y="2115840"/>
            <a:ext cx="3698187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A6524A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−1.72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629929" y="3042940"/>
            <a:ext cx="369818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40% reduction in customer satisfaction between prompt and delayed deliveries.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75936" y="3983335"/>
            <a:ext cx="4206174" cy="2066429"/>
          </a:xfrm>
          <a:prstGeom prst="roundRect">
            <a:avLst>
              <a:gd name="adj" fmla="val 1567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04530" y="4186535"/>
            <a:ext cx="397758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ANALYTICAL FINDING VS CAUSALITY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04530" y="4511576"/>
            <a:ext cx="3748986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data demonstrates a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strong statistical association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rather than strict single-factor causality. Delayed orders frequently encounter damaged parcels, seller responsiveness issues, or stockout friction.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Three business priorities emerge from the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382216"/>
            <a:ext cx="66596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PRIORITY 01 · COMMERCIAL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665982"/>
            <a:ext cx="66596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 core revenue-driving categories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130127"/>
            <a:ext cx="665969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Maintain tight stock availability, seller SLA adherence, and promo visibility across Health &amp; Beauty, Watches &amp; Gifts, and Bed, Bath &amp; Table.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2867323"/>
            <a:ext cx="66596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PRIORITY 02 · REGIONAL LOGISTICS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5" y="3151088"/>
            <a:ext cx="66596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Investigate high-delay shipping corridors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615234"/>
            <a:ext cx="665969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 regional transit carriers and postal partner SLAs in Rio de Janeiro (11.6% late) and Northeast routes (AL 23.1%, BA 15.9%) to align delivery estimates.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4352429"/>
            <a:ext cx="66596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PRIORITY 03 · CUSTOMER RETENTION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4636195"/>
            <a:ext cx="66596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Treat delivery reliability as satisfaction driver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5100340"/>
            <a:ext cx="665969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Address delivery friction directly to protect seller ratings and unlock lifetime repeat purchasing beyond the current 3% repeat customer benchmark.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585" y="5939135"/>
            <a:ext cx="665969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Preserving the distinction between observed evidence and operational recommendations.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8" y="1280616"/>
            <a:ext cx="3855643" cy="275044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726368" y="4157960"/>
            <a:ext cx="3855643" cy="2103338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5" name="Text 12"/>
          <p:cNvSpPr/>
          <p:nvPr/>
        </p:nvSpPr>
        <p:spPr>
          <a:xfrm>
            <a:off x="7980361" y="4513064"/>
            <a:ext cx="36016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SUMMARY TAKEAWAY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80361" y="4838105"/>
            <a:ext cx="334765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Sustainable marketplace expansion depends on pairing catalog sales volume with predictable fulfillment standards.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09585" y="2759373"/>
            <a:ext cx="665969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5" y="4244479"/>
            <a:ext cx="665969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9" name="Text 16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2026-09-25T14:31:50Z</dcterms:created>
  <dcterms:modified xsi:type="dcterms:W3CDTF">2026-09-25T14:31:50Z</dcterms:modified>
</cp:coreProperties>
</file>